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approval to deploy into production. The key point for the Board is the exclusion: the sensitive procurement data that makes neighbouring use cases high risk is architecturally out of scope here. This use case is also itself a governance instrument: it is the register of the rest of the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surface is the blue components. The green ones are existing approved AIB infrastructure whose controls we inherit rather than rebuild. The security control matrix sets that out control by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11480" y="292608"/>
            <a:ext cx="8229600" cy="365760"/>
          </a:xfrm>
          <a:prstGeom prst="rect">
            <a:avLst/>
          </a:prstGeom>
          <a:noFill/>
          <a:ln/>
        </p:spPr>
        <p:txBody>
          <a:bodyPr wrap="square" lIns="0" tIns="0" rIns="0" bIns="0" rtlCol="0" anchor="ctr"/>
          <a:lstStyle/>
          <a:p>
            <a:pPr indent="0" marL="0">
              <a:buNone/>
            </a:pPr>
            <a:r>
              <a:rPr lang="en-US" sz="2000" b="1" dirty="0">
                <a:solidFill>
                  <a:srgbClr val="E60000"/>
                </a:solidFill>
                <a:latin typeface="Arial" pitchFamily="34" charset="0"/>
                <a:ea typeface="Arial" pitchFamily="34" charset="-122"/>
                <a:cs typeface="Arial" pitchFamily="34" charset="-120"/>
              </a:rPr>
              <a:t>AI Portfolio Board - Overview: Why?</a:t>
            </a:r>
            <a:endParaRPr lang="en-US" sz="2000" dirty="0"/>
          </a:p>
        </p:txBody>
      </p:sp>
      <p:sp>
        <p:nvSpPr>
          <p:cNvPr id="3" name="Text 1"/>
          <p:cNvSpPr txBox="1"/>
          <p:nvPr/>
        </p:nvSpPr>
        <p:spPr>
          <a:xfrm>
            <a:off x="411480" y="676656"/>
            <a:ext cx="11338560" cy="237744"/>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Portfolio ID: # VP&amp;C AI Use Cases   |   Use Case: Agent Marketplace   |   Ask of the AI Board: Approval to deploy into Production</a:t>
            </a:r>
            <a:endParaRPr lang="en-US" sz="1000" dirty="0"/>
          </a:p>
        </p:txBody>
      </p:sp>
      <p:sp>
        <p:nvSpPr>
          <p:cNvPr id="4" name="Shape 2"/>
          <p:cNvSpPr/>
          <p:nvPr/>
        </p:nvSpPr>
        <p:spPr>
          <a:xfrm>
            <a:off x="411480" y="950976"/>
            <a:ext cx="11365992" cy="0"/>
          </a:xfrm>
          <a:prstGeom prst="line">
            <a:avLst/>
          </a:prstGeom>
          <a:noFill/>
          <a:ln w="12700">
            <a:solidFill>
              <a:srgbClr val="DADCE0"/>
            </a:solidFill>
            <a:prstDash val="solid"/>
          </a:ln>
        </p:spPr>
      </p:sp>
      <p:sp>
        <p:nvSpPr>
          <p:cNvPr id="5" name="Shape 3"/>
          <p:cNvSpPr/>
          <p:nvPr/>
        </p:nvSpPr>
        <p:spPr>
          <a:xfrm>
            <a:off x="411480" y="1097280"/>
            <a:ext cx="3703320" cy="3383280"/>
          </a:xfrm>
          <a:prstGeom prst="roundRect">
            <a:avLst>
              <a:gd name="adj" fmla="val 1351"/>
            </a:avLst>
          </a:prstGeom>
          <a:solidFill>
            <a:srgbClr val="FFFFFF"/>
          </a:solidFill>
          <a:ln w="12700">
            <a:solidFill>
              <a:srgbClr val="DADCE0"/>
            </a:solidFill>
            <a:prstDash val="solid"/>
          </a:ln>
        </p:spPr>
      </p:sp>
      <p:sp>
        <p:nvSpPr>
          <p:cNvPr id="6" name="Text 4"/>
          <p:cNvSpPr txBox="1"/>
          <p:nvPr/>
        </p:nvSpPr>
        <p:spPr>
          <a:xfrm>
            <a:off x="557784" y="1207008"/>
            <a:ext cx="3410712" cy="219456"/>
          </a:xfrm>
          <a:prstGeom prst="rect">
            <a:avLst/>
          </a:prstGeom>
          <a:noFill/>
          <a:ln/>
        </p:spPr>
        <p:txBody>
          <a:bodyPr wrap="square" lIns="0" tIns="0" rIns="0" bIns="0" rtlCol="0" anchor="ctr"/>
          <a:lstStyle/>
          <a:p>
            <a:pPr indent="0" marL="0">
              <a:buNone/>
            </a:pPr>
            <a:r>
              <a:rPr lang="en-US" sz="1100" b="1" dirty="0">
                <a:solidFill>
                  <a:srgbClr val="E60000"/>
                </a:solidFill>
                <a:latin typeface="Arial" pitchFamily="34" charset="0"/>
                <a:ea typeface="Arial" pitchFamily="34" charset="-122"/>
                <a:cs typeface="Arial" pitchFamily="34" charset="-120"/>
              </a:rPr>
              <a:t>Problem statement</a:t>
            </a:r>
            <a:endParaRPr lang="en-US" sz="1100" dirty="0"/>
          </a:p>
        </p:txBody>
      </p:sp>
      <p:sp>
        <p:nvSpPr>
          <p:cNvPr id="7" name="Text 5"/>
          <p:cNvSpPr txBox="1"/>
          <p:nvPr/>
        </p:nvSpPr>
        <p:spPr>
          <a:xfrm>
            <a:off x="612648" y="1481328"/>
            <a:ext cx="3319272" cy="2871216"/>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950" dirty="0">
                <a:solidFill>
                  <a:srgbClr val="1A1A1A"/>
                </a:solidFill>
                <a:latin typeface="Arial" pitchFamily="34" charset="0"/>
                <a:ea typeface="Arial" pitchFamily="34" charset="-122"/>
                <a:cs typeface="Arial" pitchFamily="34" charset="-120"/>
              </a:rPr>
              <a:t>VP&amp;C builds AI agents in several places at once: Copilot Studio, supplier platforms, Looker, Vodafone services on GCP.</a:t>
            </a:r>
            <a:endParaRPr lang="en-US" sz="950" dirty="0"/>
          </a:p>
          <a:p>
            <a:pPr marL="342900" indent="-342900">
              <a:lnSpc>
                <a:spcPct val="110000"/>
              </a:lnSpc>
              <a:spcAft>
                <a:spcPts val="400"/>
              </a:spcAft>
              <a:buSzPct val="100000"/>
              <a:buChar char="•"/>
            </a:pPr>
            <a:r>
              <a:rPr lang="en-US" sz="950" dirty="0">
                <a:solidFill>
                  <a:srgbClr val="1A1A1A"/>
                </a:solidFill>
                <a:latin typeface="Arial" pitchFamily="34" charset="0"/>
                <a:ea typeface="Arial" pitchFamily="34" charset="-122"/>
                <a:cs typeface="Arial" pitchFamily="34" charset="-120"/>
              </a:rPr>
              <a:t>Nobody can see the full set, so nobody can say what is running, who owns it, what data it reaches or what it costs.</a:t>
            </a:r>
            <a:endParaRPr lang="en-US" sz="950" dirty="0"/>
          </a:p>
          <a:p>
            <a:pPr marL="342900" indent="-342900">
              <a:lnSpc>
                <a:spcPct val="110000"/>
              </a:lnSpc>
              <a:spcAft>
                <a:spcPts val="400"/>
              </a:spcAft>
              <a:buSzPct val="100000"/>
              <a:buChar char="•"/>
            </a:pPr>
            <a:r>
              <a:rPr lang="en-US" sz="950" dirty="0">
                <a:solidFill>
                  <a:srgbClr val="1A1A1A"/>
                </a:solidFill>
                <a:latin typeface="Arial" pitchFamily="34" charset="0"/>
                <a:ea typeface="Arial" pitchFamily="34" charset="-122"/>
                <a:cs typeface="Arial" pitchFamily="34" charset="-120"/>
              </a:rPr>
              <a:t>Teams duplicate work that already exists, and good agents built by one team reach only that team.</a:t>
            </a:r>
            <a:endParaRPr lang="en-US" sz="950" dirty="0"/>
          </a:p>
          <a:p>
            <a:pPr marL="342900" indent="-342900">
              <a:lnSpc>
                <a:spcPct val="110000"/>
              </a:lnSpc>
              <a:spcAft>
                <a:spcPts val="400"/>
              </a:spcAft>
              <a:buSzPct val="100000"/>
              <a:buChar char="•"/>
            </a:pPr>
            <a:r>
              <a:rPr lang="en-US" sz="950" dirty="0">
                <a:solidFill>
                  <a:srgbClr val="1A1A1A"/>
                </a:solidFill>
                <a:latin typeface="Arial" pitchFamily="34" charset="0"/>
                <a:ea typeface="Arial" pitchFamily="34" charset="-122"/>
                <a:cs typeface="Arial" pitchFamily="34" charset="-120"/>
              </a:rPr>
              <a:t>Pilots have no defined route to becoming supported production services.</a:t>
            </a:r>
            <a:endParaRPr lang="en-US" sz="950" dirty="0"/>
          </a:p>
        </p:txBody>
      </p:sp>
      <p:sp>
        <p:nvSpPr>
          <p:cNvPr id="8" name="Shape 6"/>
          <p:cNvSpPr/>
          <p:nvPr/>
        </p:nvSpPr>
        <p:spPr>
          <a:xfrm>
            <a:off x="4251960" y="1097280"/>
            <a:ext cx="3703320" cy="3383280"/>
          </a:xfrm>
          <a:prstGeom prst="roundRect">
            <a:avLst>
              <a:gd name="adj" fmla="val 1351"/>
            </a:avLst>
          </a:prstGeom>
          <a:solidFill>
            <a:srgbClr val="FFFFFF"/>
          </a:solidFill>
          <a:ln w="12700">
            <a:solidFill>
              <a:srgbClr val="DADCE0"/>
            </a:solidFill>
            <a:prstDash val="solid"/>
          </a:ln>
        </p:spPr>
      </p:sp>
      <p:sp>
        <p:nvSpPr>
          <p:cNvPr id="9" name="Text 7"/>
          <p:cNvSpPr txBox="1"/>
          <p:nvPr/>
        </p:nvSpPr>
        <p:spPr>
          <a:xfrm>
            <a:off x="4398264" y="1207008"/>
            <a:ext cx="3410712" cy="219456"/>
          </a:xfrm>
          <a:prstGeom prst="rect">
            <a:avLst/>
          </a:prstGeom>
          <a:noFill/>
          <a:ln/>
        </p:spPr>
        <p:txBody>
          <a:bodyPr wrap="square" lIns="0" tIns="0" rIns="0" bIns="0" rtlCol="0" anchor="ctr"/>
          <a:lstStyle/>
          <a:p>
            <a:pPr indent="0" marL="0">
              <a:buNone/>
            </a:pPr>
            <a:r>
              <a:rPr lang="en-US" sz="1100" b="1" dirty="0">
                <a:solidFill>
                  <a:srgbClr val="E60000"/>
                </a:solidFill>
                <a:latin typeface="Arial" pitchFamily="34" charset="0"/>
                <a:ea typeface="Arial" pitchFamily="34" charset="-122"/>
                <a:cs typeface="Arial" pitchFamily="34" charset="-120"/>
              </a:rPr>
              <a:t>Benefit</a:t>
            </a:r>
            <a:endParaRPr lang="en-US" sz="1100" dirty="0"/>
          </a:p>
        </p:txBody>
      </p:sp>
      <p:sp>
        <p:nvSpPr>
          <p:cNvPr id="10" name="Text 8"/>
          <p:cNvSpPr txBox="1"/>
          <p:nvPr/>
        </p:nvSpPr>
        <p:spPr>
          <a:xfrm>
            <a:off x="4453128" y="1481328"/>
            <a:ext cx="3319272" cy="2871216"/>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950" dirty="0">
                <a:solidFill>
                  <a:srgbClr val="1A1A1A"/>
                </a:solidFill>
                <a:latin typeface="Arial" pitchFamily="34" charset="0"/>
                <a:ea typeface="Arial" pitchFamily="34" charset="-122"/>
                <a:cs typeface="Arial" pitchFamily="34" charset="-120"/>
              </a:rPr>
              <a:t>One front door: discover every VP&amp;C agent, try it, and request access, in one place.</a:t>
            </a:r>
            <a:endParaRPr lang="en-US" sz="950" dirty="0"/>
          </a:p>
          <a:p>
            <a:pPr marL="342900" indent="-342900">
              <a:lnSpc>
                <a:spcPct val="110000"/>
              </a:lnSpc>
              <a:spcAft>
                <a:spcPts val="400"/>
              </a:spcAft>
              <a:buSzPct val="100000"/>
              <a:buChar char="•"/>
            </a:pPr>
            <a:r>
              <a:rPr lang="en-US" sz="950" dirty="0">
                <a:solidFill>
                  <a:srgbClr val="1A1A1A"/>
                </a:solidFill>
                <a:latin typeface="Arial" pitchFamily="34" charset="0"/>
                <a:ea typeface="Arial" pitchFamily="34" charset="-122"/>
                <a:cs typeface="Arial" pitchFamily="34" charset="-120"/>
              </a:rPr>
              <a:t>A live register of what is running and who owns it, which is the control this Board has been asking for.</a:t>
            </a:r>
            <a:endParaRPr lang="en-US" sz="950" dirty="0"/>
          </a:p>
          <a:p>
            <a:pPr marL="342900" indent="-342900">
              <a:lnSpc>
                <a:spcPct val="110000"/>
              </a:lnSpc>
              <a:spcAft>
                <a:spcPts val="400"/>
              </a:spcAft>
              <a:buSzPct val="100000"/>
              <a:buChar char="•"/>
            </a:pPr>
            <a:r>
              <a:rPr lang="en-US" sz="950" dirty="0">
                <a:solidFill>
                  <a:srgbClr val="1A1A1A"/>
                </a:solidFill>
                <a:latin typeface="Arial" pitchFamily="34" charset="0"/>
                <a:ea typeface="Arial" pitchFamily="34" charset="-122"/>
                <a:cs typeface="Arial" pitchFamily="34" charset="-120"/>
              </a:rPr>
              <a:t>Duplicate builds caught at intake, by searching the task rather than the product name.</a:t>
            </a:r>
            <a:endParaRPr lang="en-US" sz="950" dirty="0"/>
          </a:p>
          <a:p>
            <a:pPr marL="342900" indent="-342900">
              <a:lnSpc>
                <a:spcPct val="110000"/>
              </a:lnSpc>
              <a:spcAft>
                <a:spcPts val="400"/>
              </a:spcAft>
              <a:buSzPct val="100000"/>
              <a:buChar char="•"/>
            </a:pPr>
            <a:r>
              <a:rPr lang="en-US" sz="950" dirty="0">
                <a:solidFill>
                  <a:srgbClr val="1A1A1A"/>
                </a:solidFill>
                <a:latin typeface="Arial" pitchFamily="34" charset="0"/>
                <a:ea typeface="Arial" pitchFamily="34" charset="-122"/>
                <a:cs typeface="Arial" pitchFamily="34" charset="-120"/>
              </a:rPr>
              <a:t>A published monthly score (impact 40, adoption 30, satisfaction 20, community 10) that promotes one pilot to production.</a:t>
            </a:r>
            <a:endParaRPr lang="en-US" sz="950" dirty="0"/>
          </a:p>
        </p:txBody>
      </p:sp>
      <p:sp>
        <p:nvSpPr>
          <p:cNvPr id="11" name="Shape 9"/>
          <p:cNvSpPr/>
          <p:nvPr/>
        </p:nvSpPr>
        <p:spPr>
          <a:xfrm>
            <a:off x="8092440" y="1097280"/>
            <a:ext cx="3685032" cy="3383280"/>
          </a:xfrm>
          <a:prstGeom prst="roundRect">
            <a:avLst>
              <a:gd name="adj" fmla="val 1351"/>
            </a:avLst>
          </a:prstGeom>
          <a:solidFill>
            <a:srgbClr val="FFFFFF"/>
          </a:solidFill>
          <a:ln w="12700">
            <a:solidFill>
              <a:srgbClr val="DADCE0"/>
            </a:solidFill>
            <a:prstDash val="solid"/>
          </a:ln>
        </p:spPr>
      </p:sp>
      <p:sp>
        <p:nvSpPr>
          <p:cNvPr id="12" name="Text 10"/>
          <p:cNvSpPr txBox="1"/>
          <p:nvPr/>
        </p:nvSpPr>
        <p:spPr>
          <a:xfrm>
            <a:off x="8238744" y="1207008"/>
            <a:ext cx="3392424" cy="219456"/>
          </a:xfrm>
          <a:prstGeom prst="rect">
            <a:avLst/>
          </a:prstGeom>
          <a:noFill/>
          <a:ln/>
        </p:spPr>
        <p:txBody>
          <a:bodyPr wrap="square" lIns="0" tIns="0" rIns="0" bIns="0" rtlCol="0" anchor="ctr"/>
          <a:lstStyle/>
          <a:p>
            <a:pPr indent="0" marL="0">
              <a:buNone/>
            </a:pPr>
            <a:r>
              <a:rPr lang="en-US" sz="1100" b="1" dirty="0">
                <a:solidFill>
                  <a:srgbClr val="E60000"/>
                </a:solidFill>
                <a:latin typeface="Arial" pitchFamily="34" charset="0"/>
                <a:ea typeface="Arial" pitchFamily="34" charset="-122"/>
                <a:cs typeface="Arial" pitchFamily="34" charset="-120"/>
              </a:rPr>
              <a:t>Data needs</a:t>
            </a:r>
            <a:endParaRPr lang="en-US" sz="1100" dirty="0"/>
          </a:p>
        </p:txBody>
      </p:sp>
      <p:sp>
        <p:nvSpPr>
          <p:cNvPr id="13" name="Text 11"/>
          <p:cNvSpPr txBox="1"/>
          <p:nvPr/>
        </p:nvSpPr>
        <p:spPr>
          <a:xfrm>
            <a:off x="8293608" y="1481328"/>
            <a:ext cx="3300984" cy="2871216"/>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950" dirty="0">
                <a:solidFill>
                  <a:srgbClr val="1A1A1A"/>
                </a:solidFill>
                <a:latin typeface="Arial" pitchFamily="34" charset="0"/>
                <a:ea typeface="Arial" pitchFamily="34" charset="-122"/>
                <a:cs typeface="Arial" pitchFamily="34" charset="-120"/>
              </a:rPr>
              <a:t>Agent catalogue, taxonomy and classifications.</a:t>
            </a:r>
            <a:endParaRPr lang="en-US" sz="950" dirty="0"/>
          </a:p>
          <a:p>
            <a:pPr marL="342900" indent="-342900">
              <a:lnSpc>
                <a:spcPct val="110000"/>
              </a:lnSpc>
              <a:spcAft>
                <a:spcPts val="400"/>
              </a:spcAft>
              <a:buSzPct val="100000"/>
              <a:buChar char="•"/>
            </a:pPr>
            <a:r>
              <a:rPr lang="en-US" sz="950" dirty="0">
                <a:solidFill>
                  <a:srgbClr val="1A1A1A"/>
                </a:solidFill>
                <a:latin typeface="Arial" pitchFamily="34" charset="0"/>
                <a:ea typeface="Arial" pitchFamily="34" charset="-122"/>
                <a:cs typeface="Arial" pitchFamily="34" charset="-120"/>
              </a:rPr>
              <a:t>Submissions, access requests, notifications.</a:t>
            </a:r>
            <a:endParaRPr lang="en-US" sz="950" dirty="0"/>
          </a:p>
          <a:p>
            <a:pPr marL="342900" indent="-342900">
              <a:lnSpc>
                <a:spcPct val="110000"/>
              </a:lnSpc>
              <a:spcAft>
                <a:spcPts val="400"/>
              </a:spcAft>
              <a:buSzPct val="100000"/>
              <a:buChar char="•"/>
            </a:pPr>
            <a:r>
              <a:rPr lang="en-US" sz="950" dirty="0">
                <a:solidFill>
                  <a:srgbClr val="1A1A1A"/>
                </a:solidFill>
                <a:latin typeface="Arial" pitchFamily="34" charset="0"/>
                <a:ea typeface="Arial" pitchFamily="34" charset="-122"/>
                <a:cs typeface="Arial" pitchFamily="34" charset="-120"/>
              </a:rPr>
              <a:t>Votes and feedback (pseudonymised).</a:t>
            </a:r>
            <a:endParaRPr lang="en-US" sz="950" dirty="0"/>
          </a:p>
          <a:p>
            <a:pPr marL="342900" indent="-342900">
              <a:lnSpc>
                <a:spcPct val="110000"/>
              </a:lnSpc>
              <a:spcAft>
                <a:spcPts val="400"/>
              </a:spcAft>
              <a:buSzPct val="100000"/>
              <a:buChar char="•"/>
            </a:pPr>
            <a:r>
              <a:rPr lang="en-US" sz="950" dirty="0">
                <a:solidFill>
                  <a:srgbClr val="1A1A1A"/>
                </a:solidFill>
                <a:latin typeface="Arial" pitchFamily="34" charset="0"/>
                <a:ea typeface="Arial" pitchFamily="34" charset="-122"/>
                <a:cs typeface="Arial" pitchFamily="34" charset="-120"/>
              </a:rPr>
              <a:t>Activity and audit records.</a:t>
            </a:r>
            <a:endParaRPr lang="en-US" sz="950" dirty="0"/>
          </a:p>
          <a:p>
            <a:pPr marL="342900" indent="-342900">
              <a:lnSpc>
                <a:spcPct val="110000"/>
              </a:lnSpc>
              <a:spcAft>
                <a:spcPts val="400"/>
              </a:spcAft>
              <a:buSzPct val="100000"/>
              <a:buChar char="•"/>
            </a:pPr>
            <a:r>
              <a:rPr lang="en-US" sz="950" dirty="0">
                <a:solidFill>
                  <a:srgbClr val="1A1A1A"/>
                </a:solidFill>
                <a:latin typeface="Arial" pitchFamily="34" charset="0"/>
                <a:ea typeface="Arial" pitchFamily="34" charset="-122"/>
                <a:cs typeface="Arial" pitchFamily="34" charset="-120"/>
              </a:rPr>
              <a:t>Users and application role mappings.</a:t>
            </a:r>
            <a:endParaRPr lang="en-US" sz="950" dirty="0"/>
          </a:p>
          <a:p>
            <a:pPr marL="342900" indent="-342900">
              <a:lnSpc>
                <a:spcPct val="110000"/>
              </a:lnSpc>
              <a:spcAft>
                <a:spcPts val="400"/>
              </a:spcAft>
              <a:buSzPct val="100000"/>
              <a:buChar char="•"/>
            </a:pPr>
            <a:r>
              <a:rPr lang="en-US" sz="950" dirty="0">
                <a:solidFill>
                  <a:srgbClr val="1A1A1A"/>
                </a:solidFill>
                <a:latin typeface="Arial" pitchFamily="34" charset="0"/>
                <a:ea typeface="Arial" pitchFamily="34" charset="-122"/>
                <a:cs typeface="Arial" pitchFamily="34" charset="-120"/>
              </a:rPr>
              <a:t>Vodafone employee work email, name and role. No customer and no supplier personal data.</a:t>
            </a:r>
            <a:endParaRPr lang="en-US" sz="950" dirty="0"/>
          </a:p>
        </p:txBody>
      </p:sp>
      <p:sp>
        <p:nvSpPr>
          <p:cNvPr id="14" name="Shape 12"/>
          <p:cNvSpPr/>
          <p:nvPr/>
        </p:nvSpPr>
        <p:spPr>
          <a:xfrm>
            <a:off x="411480" y="4709160"/>
            <a:ext cx="11365992" cy="1005840"/>
          </a:xfrm>
          <a:prstGeom prst="roundRect">
            <a:avLst>
              <a:gd name="adj" fmla="val 4545"/>
            </a:avLst>
          </a:prstGeom>
          <a:solidFill>
            <a:srgbClr val="F1F8F2"/>
          </a:solidFill>
          <a:ln w="12700">
            <a:solidFill>
              <a:srgbClr val="188038"/>
            </a:solidFill>
            <a:prstDash val="solid"/>
          </a:ln>
        </p:spPr>
      </p:sp>
      <p:sp>
        <p:nvSpPr>
          <p:cNvPr id="15" name="Text 13"/>
          <p:cNvSpPr txBox="1"/>
          <p:nvPr/>
        </p:nvSpPr>
        <p:spPr>
          <a:xfrm>
            <a:off x="566928" y="4846320"/>
            <a:ext cx="10972800" cy="219456"/>
          </a:xfrm>
          <a:prstGeom prst="rect">
            <a:avLst/>
          </a:prstGeom>
          <a:noFill/>
          <a:ln/>
        </p:spPr>
        <p:txBody>
          <a:bodyPr wrap="square" lIns="0" tIns="0" rIns="0" bIns="0" rtlCol="0" anchor="ctr"/>
          <a:lstStyle/>
          <a:p>
            <a:pPr indent="0" marL="0">
              <a:buNone/>
            </a:pPr>
            <a:r>
              <a:rPr lang="en-US" sz="1100" b="1" dirty="0">
                <a:solidFill>
                  <a:srgbClr val="188038"/>
                </a:solidFill>
                <a:latin typeface="Arial" pitchFamily="34" charset="0"/>
                <a:ea typeface="Arial" pitchFamily="34" charset="-122"/>
                <a:cs typeface="Arial" pitchFamily="34" charset="-120"/>
              </a:rPr>
              <a:t>What bounds this assessment</a:t>
            </a:r>
            <a:endParaRPr lang="en-US" sz="1100" dirty="0"/>
          </a:p>
        </p:txBody>
      </p:sp>
      <p:sp>
        <p:nvSpPr>
          <p:cNvPr id="16" name="Text 14"/>
          <p:cNvSpPr txBox="1"/>
          <p:nvPr/>
        </p:nvSpPr>
        <p:spPr>
          <a:xfrm>
            <a:off x="566928" y="5084064"/>
            <a:ext cx="11064240" cy="548640"/>
          </a:xfrm>
          <a:prstGeom prst="rect">
            <a:avLst/>
          </a:prstGeom>
          <a:noFill/>
          <a:ln/>
        </p:spPr>
        <p:txBody>
          <a:bodyPr wrap="square" lIns="0" tIns="0" rIns="0" bIns="0" rtlCol="0" anchor="ctr"/>
          <a:lstStyle/>
          <a:p>
            <a:pPr indent="0" marL="0">
              <a:lnSpc>
                <a:spcPct val="112000"/>
              </a:lnSpc>
              <a:buNone/>
            </a:pPr>
            <a:r>
              <a:rPr lang="en-US" sz="1000" dirty="0">
                <a:solidFill>
                  <a:srgbClr val="1A1A1A"/>
                </a:solidFill>
                <a:latin typeface="Arial" pitchFamily="34" charset="0"/>
                <a:ea typeface="Arial" pitchFamily="34" charset="-122"/>
                <a:cs typeface="Arial" pitchFamily="34" charset="-120"/>
              </a:rPr>
              <a:t>The marketplace is a catalogue and a front door, not a runtime. Agents keep running on their own platforms under their own approvals. No supplier record, contract, purchase order, invoice, price or spend figure is read, stored or transmitted on any path, and SAP, Ariba and Datasphere are not integrated. This is an architectural property, not a policy promise.</a:t>
            </a:r>
            <a:endParaRPr lang="en-US" sz="1000" dirty="0"/>
          </a:p>
        </p:txBody>
      </p:sp>
      <p:sp>
        <p:nvSpPr>
          <p:cNvPr id="17" name="Text 15"/>
          <p:cNvSpPr txBox="1"/>
          <p:nvPr/>
        </p:nvSpPr>
        <p:spPr>
          <a:xfrm>
            <a:off x="411480" y="5943600"/>
            <a:ext cx="11365992" cy="274320"/>
          </a:xfrm>
          <a:prstGeom prst="rect">
            <a:avLst/>
          </a:prstGeom>
          <a:noFill/>
          <a:ln/>
        </p:spPr>
        <p:txBody>
          <a:bodyPr wrap="square" lIns="0" tIns="0" rIns="0" bIns="0" rtlCol="0" anchor="ctr"/>
          <a:lstStyle/>
          <a:p>
            <a:pPr indent="0" marL="0">
              <a:buNone/>
            </a:pPr>
            <a:r>
              <a:rPr lang="en-US" sz="950" b="1" dirty="0">
                <a:solidFill>
                  <a:srgbClr val="5F6368"/>
                </a:solidFill>
                <a:latin typeface="Arial" pitchFamily="34" charset="0"/>
                <a:ea typeface="Arial" pitchFamily="34" charset="-122"/>
                <a:cs typeface="Arial" pitchFamily="34" charset="-120"/>
              </a:rPr>
              <a:t>Classification: </a:t>
            </a:r>
            <a:pPr indent="0" marL="0">
              <a:buNone/>
            </a:pPr>
            <a:r>
              <a:rPr lang="en-US" sz="950" dirty="0">
                <a:solidFill>
                  <a:srgbClr val="5F6368"/>
                </a:solidFill>
                <a:latin typeface="Arial" pitchFamily="34" charset="0"/>
                <a:ea typeface="Arial" pitchFamily="34" charset="-122"/>
                <a:cs typeface="Arial" pitchFamily="34" charset="-120"/>
              </a:rPr>
              <a:t>Confidential   </a:t>
            </a:r>
            <a:pPr indent="0" marL="0">
              <a:buNone/>
            </a:pPr>
            <a:r>
              <a:rPr lang="en-US" sz="950" b="1" dirty="0">
                <a:solidFill>
                  <a:srgbClr val="5F6368"/>
                </a:solidFill>
                <a:latin typeface="Arial" pitchFamily="34" charset="0"/>
                <a:ea typeface="Arial" pitchFamily="34" charset="-122"/>
                <a:cs typeface="Arial" pitchFamily="34" charset="-120"/>
              </a:rPr>
              <a:t>Encryption: </a:t>
            </a:r>
            <a:pPr indent="0" marL="0">
              <a:buNone/>
            </a:pPr>
            <a:r>
              <a:rPr lang="en-US" sz="950" dirty="0">
                <a:solidFill>
                  <a:srgbClr val="5F6368"/>
                </a:solidFill>
                <a:latin typeface="Arial" pitchFamily="34" charset="0"/>
                <a:ea typeface="Arial" pitchFamily="34" charset="-122"/>
                <a:cs typeface="Arial" pitchFamily="34" charset="-120"/>
              </a:rPr>
              <a:t>CMEK   </a:t>
            </a:r>
            <a:pPr indent="0" marL="0">
              <a:buNone/>
            </a:pPr>
            <a:r>
              <a:rPr lang="en-US" sz="950" b="1" dirty="0">
                <a:solidFill>
                  <a:srgbClr val="5F6368"/>
                </a:solidFill>
                <a:latin typeface="Arial" pitchFamily="34" charset="0"/>
                <a:ea typeface="Arial" pitchFamily="34" charset="-122"/>
                <a:cs typeface="Arial" pitchFamily="34" charset="-120"/>
              </a:rPr>
              <a:t>Owner: </a:t>
            </a:r>
            <a:pPr indent="0" marL="0">
              <a:buNone/>
            </a:pPr>
            <a:r>
              <a:rPr lang="en-US" sz="950" dirty="0">
                <a:solidFill>
                  <a:srgbClr val="5F6368"/>
                </a:solidFill>
                <a:latin typeface="Arial" pitchFamily="34" charset="0"/>
                <a:ea typeface="Arial" pitchFamily="34" charset="-122"/>
                <a:cs typeface="Arial" pitchFamily="34" charset="-120"/>
              </a:rPr>
              <a:t>Procurement AI Operations   </a:t>
            </a:r>
            <a:pPr indent="0" marL="0">
              <a:buNone/>
            </a:pPr>
            <a:r>
              <a:rPr lang="en-US" sz="950" b="1" dirty="0">
                <a:solidFill>
                  <a:srgbClr val="5F6368"/>
                </a:solidFill>
                <a:latin typeface="Arial" pitchFamily="34" charset="0"/>
                <a:ea typeface="Arial" pitchFamily="34" charset="-122"/>
                <a:cs typeface="Arial" pitchFamily="34" charset="-120"/>
              </a:rPr>
              <a:t>Environments: </a:t>
            </a:r>
            <a:pPr indent="0" marL="0">
              <a:buNone/>
            </a:pPr>
            <a:r>
              <a:rPr lang="en-US" sz="950" dirty="0">
                <a:solidFill>
                  <a:srgbClr val="5F6368"/>
                </a:solidFill>
                <a:latin typeface="Arial" pitchFamily="34" charset="0"/>
                <a:ea typeface="Arial" pitchFamily="34" charset="-122"/>
                <a:cs typeface="Arial" pitchFamily="34" charset="-120"/>
              </a:rPr>
              <a:t>lab / non-live / live   </a:t>
            </a:r>
            <a:pPr indent="0" marL="0">
              <a:buNone/>
            </a:pPr>
            <a:r>
              <a:rPr lang="en-US" sz="950" b="1" dirty="0">
                <a:solidFill>
                  <a:srgbClr val="5F6368"/>
                </a:solidFill>
                <a:latin typeface="Arial" pitchFamily="34" charset="0"/>
                <a:ea typeface="Arial" pitchFamily="34" charset="-122"/>
                <a:cs typeface="Arial" pitchFamily="34" charset="-120"/>
              </a:rPr>
              <a:t>Pattern: </a:t>
            </a:r>
            <a:pPr indent="0" marL="0">
              <a:buNone/>
            </a:pPr>
            <a:r>
              <a:rPr lang="en-US" sz="950" dirty="0">
                <a:solidFill>
                  <a:srgbClr val="5F6368"/>
                </a:solidFill>
                <a:latin typeface="Arial" pitchFamily="34" charset="0"/>
                <a:ea typeface="Arial" pitchFamily="34" charset="-122"/>
                <a:cs typeface="Arial" pitchFamily="34" charset="-120"/>
              </a:rPr>
              <a:t>Reusable AIB architecture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11480" y="292608"/>
            <a:ext cx="8229600" cy="365760"/>
          </a:xfrm>
          <a:prstGeom prst="rect">
            <a:avLst/>
          </a:prstGeom>
          <a:noFill/>
          <a:ln/>
        </p:spPr>
        <p:txBody>
          <a:bodyPr wrap="square" lIns="0" tIns="0" rIns="0" bIns="0" rtlCol="0" anchor="ctr"/>
          <a:lstStyle/>
          <a:p>
            <a:pPr indent="0" marL="0">
              <a:buNone/>
            </a:pPr>
            <a:r>
              <a:rPr lang="en-US" sz="2000" b="1" dirty="0">
                <a:solidFill>
                  <a:srgbClr val="E60000"/>
                </a:solidFill>
                <a:latin typeface="Arial" pitchFamily="34" charset="0"/>
                <a:ea typeface="Arial" pitchFamily="34" charset="-122"/>
                <a:cs typeface="Arial" pitchFamily="34" charset="-120"/>
              </a:rPr>
              <a:t>AI Portfolio Board - Overview: How?</a:t>
            </a:r>
            <a:endParaRPr lang="en-US" sz="2000" dirty="0"/>
          </a:p>
        </p:txBody>
      </p:sp>
      <p:sp>
        <p:nvSpPr>
          <p:cNvPr id="3" name="Text 1"/>
          <p:cNvSpPr txBox="1"/>
          <p:nvPr/>
        </p:nvSpPr>
        <p:spPr>
          <a:xfrm>
            <a:off x="411480" y="676656"/>
            <a:ext cx="11338560" cy="237744"/>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Portfolio ID: # VP&amp;C AI Use Cases   |   Use Case: Agent Marketplace   |   Ask of the AI Board: Approval to deploy into Production</a:t>
            </a:r>
            <a:endParaRPr lang="en-US" sz="1000" dirty="0"/>
          </a:p>
        </p:txBody>
      </p:sp>
      <p:sp>
        <p:nvSpPr>
          <p:cNvPr id="4" name="Shape 2"/>
          <p:cNvSpPr/>
          <p:nvPr/>
        </p:nvSpPr>
        <p:spPr>
          <a:xfrm>
            <a:off x="411480" y="950976"/>
            <a:ext cx="11365992" cy="0"/>
          </a:xfrm>
          <a:prstGeom prst="line">
            <a:avLst/>
          </a:prstGeom>
          <a:noFill/>
          <a:ln w="12700">
            <a:solidFill>
              <a:srgbClr val="DADCE0"/>
            </a:solidFill>
            <a:prstDash val="solid"/>
          </a:ln>
        </p:spPr>
      </p:sp>
      <p:pic>
        <p:nvPicPr>
          <p:cNvPr id="5" name="Image 0" descr="/home/user/foundry/docs/architecture/diagrams/02-deployment-architecture.png">    </p:cNvPr>
          <p:cNvPicPr>
            <a:picLocks noChangeAspect="1"/>
          </p:cNvPicPr>
          <p:nvPr/>
        </p:nvPicPr>
        <p:blipFill>
          <a:blip r:embed="rId1"/>
          <a:stretch>
            <a:fillRect/>
          </a:stretch>
        </p:blipFill>
        <p:spPr>
          <a:xfrm>
            <a:off x="411480" y="1060704"/>
            <a:ext cx="8412480" cy="5559552"/>
          </a:xfrm>
          <a:prstGeom prst="rect">
            <a:avLst/>
          </a:prstGeom>
        </p:spPr>
      </p:pic>
      <p:sp>
        <p:nvSpPr>
          <p:cNvPr id="6" name="Text 3"/>
          <p:cNvSpPr txBox="1"/>
          <p:nvPr/>
        </p:nvSpPr>
        <p:spPr>
          <a:xfrm>
            <a:off x="9281160" y="1097280"/>
            <a:ext cx="2514600" cy="219456"/>
          </a:xfrm>
          <a:prstGeom prst="rect">
            <a:avLst/>
          </a:prstGeom>
          <a:noFill/>
          <a:ln/>
        </p:spPr>
        <p:txBody>
          <a:bodyPr wrap="square" lIns="0" tIns="0" rIns="0" bIns="0" rtlCol="0" anchor="ctr"/>
          <a:lstStyle/>
          <a:p>
            <a:pPr indent="0" marL="0">
              <a:buNone/>
            </a:pPr>
            <a:r>
              <a:rPr lang="en-US" sz="1100" b="1" dirty="0">
                <a:solidFill>
                  <a:srgbClr val="E60000"/>
                </a:solidFill>
                <a:latin typeface="Arial" pitchFamily="34" charset="0"/>
                <a:ea typeface="Arial" pitchFamily="34" charset="-122"/>
                <a:cs typeface="Arial" pitchFamily="34" charset="-120"/>
              </a:rPr>
              <a:t>Block architecture</a:t>
            </a:r>
            <a:endParaRPr lang="en-US" sz="1100" dirty="0"/>
          </a:p>
        </p:txBody>
      </p:sp>
      <p:sp>
        <p:nvSpPr>
          <p:cNvPr id="7" name="Text 4"/>
          <p:cNvSpPr txBox="1"/>
          <p:nvPr/>
        </p:nvSpPr>
        <p:spPr>
          <a:xfrm>
            <a:off x="9326880" y="1371600"/>
            <a:ext cx="2450592" cy="4206240"/>
          </a:xfrm>
          <a:prstGeom prst="rect">
            <a:avLst/>
          </a:prstGeom>
          <a:noFill/>
          <a:ln/>
        </p:spPr>
        <p:txBody>
          <a:bodyPr wrap="square" lIns="0" tIns="0" rIns="0" bIns="0" rtlCol="0" anchor="t"/>
          <a:lstStyle/>
          <a:p>
            <a:pPr marL="342900" indent="-342900">
              <a:lnSpc>
                <a:spcPct val="112000"/>
              </a:lnSpc>
              <a:spcAft>
                <a:spcPts val="600"/>
              </a:spcAft>
              <a:buSzPct val="100000"/>
              <a:buChar char="•"/>
            </a:pPr>
            <a:r>
              <a:rPr lang="en-US" sz="900" dirty="0">
                <a:solidFill>
                  <a:srgbClr val="1A1A1A"/>
                </a:solidFill>
                <a:latin typeface="Arial" pitchFamily="34" charset="0"/>
                <a:ea typeface="Arial" pitchFamily="34" charset="-122"/>
                <a:cs typeface="Arial" pitchFamily="34" charset="-120"/>
              </a:rPr>
              <a:t>Two tiers. The Streamlit frontend renders only; it holds no database credential and has no data path.</a:t>
            </a:r>
            <a:endParaRPr lang="en-US" sz="900" dirty="0"/>
          </a:p>
          <a:p>
            <a:pPr marL="342900" indent="-342900">
              <a:lnSpc>
                <a:spcPct val="112000"/>
              </a:lnSpc>
              <a:spcAft>
                <a:spcPts val="600"/>
              </a:spcAft>
              <a:buSzPct val="100000"/>
              <a:buChar char="•"/>
            </a:pPr>
            <a:r>
              <a:rPr lang="en-US" sz="900" dirty="0">
                <a:solidFill>
                  <a:srgbClr val="1A1A1A"/>
                </a:solidFill>
                <a:latin typeface="Arial" pitchFamily="34" charset="0"/>
                <a:ea typeface="Arial" pitchFamily="34" charset="-122"/>
                <a:cs typeface="Arial" pitchFamily="34" charset="-120"/>
              </a:rPr>
              <a:t>Every operation crosses the existing AI Orchestration Gateway carrying the end user's own bearer token, so authorisation is per person.</a:t>
            </a:r>
            <a:endParaRPr lang="en-US" sz="900" dirty="0"/>
          </a:p>
          <a:p>
            <a:pPr marL="342900" indent="-342900">
              <a:lnSpc>
                <a:spcPct val="112000"/>
              </a:lnSpc>
              <a:spcAft>
                <a:spcPts val="600"/>
              </a:spcAft>
              <a:buSzPct val="100000"/>
              <a:buChar char="•"/>
            </a:pPr>
            <a:r>
              <a:rPr lang="en-US" sz="900" dirty="0">
                <a:solidFill>
                  <a:srgbClr val="1A1A1A"/>
                </a:solidFill>
                <a:latin typeface="Arial" pitchFamily="34" charset="0"/>
                <a:ea typeface="Arial" pitchFamily="34" charset="-122"/>
                <a:cs typeface="Arial" pitchFamily="34" charset="-120"/>
              </a:rPr>
              <a:t>The backend is the only component with a governed read and write path to BigQuery.</a:t>
            </a:r>
            <a:endParaRPr lang="en-US" sz="900" dirty="0"/>
          </a:p>
          <a:p>
            <a:pPr marL="342900" indent="-342900">
              <a:lnSpc>
                <a:spcPct val="112000"/>
              </a:lnSpc>
              <a:spcAft>
                <a:spcPts val="600"/>
              </a:spcAft>
              <a:buSzPct val="100000"/>
              <a:buChar char="•"/>
            </a:pPr>
            <a:r>
              <a:rPr lang="en-US" sz="900" dirty="0">
                <a:solidFill>
                  <a:srgbClr val="1A1A1A"/>
                </a:solidFill>
                <a:latin typeface="Arial" pitchFamily="34" charset="0"/>
                <a:ea typeface="Arial" pitchFamily="34" charset="-122"/>
                <a:cs typeface="Arial" pitchFamily="34" charset="-120"/>
              </a:rPr>
              <a:t>Model access is brokered through the shared LLM Router to approved enterprise models. No direct endpoint, no model credential held by this app.</a:t>
            </a:r>
            <a:endParaRPr lang="en-US" sz="900" dirty="0"/>
          </a:p>
          <a:p>
            <a:pPr marL="342900" indent="-342900">
              <a:lnSpc>
                <a:spcPct val="112000"/>
              </a:lnSpc>
              <a:spcAft>
                <a:spcPts val="600"/>
              </a:spcAft>
              <a:buSzPct val="100000"/>
              <a:buChar char="•"/>
            </a:pPr>
            <a:r>
              <a:rPr lang="en-US" sz="900" dirty="0">
                <a:solidFill>
                  <a:srgbClr val="1A1A1A"/>
                </a:solidFill>
                <a:latin typeface="Arial" pitchFamily="34" charset="0"/>
                <a:ea typeface="Arial" pitchFamily="34" charset="-122"/>
                <a:cs typeface="Arial" pitchFamily="34" charset="-120"/>
              </a:rPr>
              <a:t>Responsible AI screening, prompt-injection defence and PII screening are inherited from the approved AIB layer.</a:t>
            </a:r>
            <a:endParaRPr lang="en-US" sz="900" dirty="0"/>
          </a:p>
          <a:p>
            <a:pPr marL="342900" indent="-342900">
              <a:lnSpc>
                <a:spcPct val="112000"/>
              </a:lnSpc>
              <a:spcAft>
                <a:spcPts val="600"/>
              </a:spcAft>
              <a:buSzPct val="100000"/>
              <a:buChar char="•"/>
            </a:pPr>
            <a:r>
              <a:rPr lang="en-US" sz="900" dirty="0">
                <a:solidFill>
                  <a:srgbClr val="1A1A1A"/>
                </a:solidFill>
                <a:latin typeface="Arial" pitchFamily="34" charset="0"/>
                <a:ea typeface="Arial" pitchFamily="34" charset="-122"/>
                <a:cs typeface="Arial" pitchFamily="34" charset="-120"/>
              </a:rPr>
              <a:t>New for this use case: the web tier, the backend service, the data model, and a VPC Service Controls perimeter around both.</a:t>
            </a:r>
            <a:endParaRPr lang="en-US" sz="900" dirty="0"/>
          </a:p>
        </p:txBody>
      </p:sp>
      <p:sp>
        <p:nvSpPr>
          <p:cNvPr id="8" name="Text 5"/>
          <p:cNvSpPr txBox="1"/>
          <p:nvPr/>
        </p:nvSpPr>
        <p:spPr>
          <a:xfrm>
            <a:off x="9326880" y="5852160"/>
            <a:ext cx="2450592" cy="548640"/>
          </a:xfrm>
          <a:prstGeom prst="rect">
            <a:avLst/>
          </a:prstGeom>
          <a:noFill/>
          <a:ln/>
        </p:spPr>
        <p:txBody>
          <a:bodyPr wrap="square" lIns="0" tIns="0" rIns="0" bIns="0" rtlCol="0" anchor="ctr"/>
          <a:lstStyle/>
          <a:p>
            <a:pPr indent="0" marL="0">
              <a:buNone/>
            </a:pPr>
            <a:r>
              <a:rPr lang="en-US" sz="850" i="1" dirty="0">
                <a:solidFill>
                  <a:srgbClr val="5F6368"/>
                </a:solidFill>
                <a:latin typeface="Arial" pitchFamily="34" charset="0"/>
                <a:ea typeface="Arial" pitchFamily="34" charset="-122"/>
                <a:cs typeface="Arial" pitchFamily="34" charset="-120"/>
              </a:rPr>
              <a:t>Full pack: HLD, DPIA, security control matrix, API contract, BigQuery DDL and five diagrams.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2026-10-15T08:45:11Z</dcterms:created>
  <dcterms:modified xsi:type="dcterms:W3CDTF">2026-10-15T08:45:11Z</dcterms:modified>
</cp:coreProperties>
</file>